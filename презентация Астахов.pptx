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83" r:id="rId2"/>
    <p:sldId id="282" r:id="rId3"/>
    <p:sldId id="323" r:id="rId4"/>
    <p:sldId id="324" r:id="rId5"/>
    <p:sldId id="325" r:id="rId6"/>
    <p:sldId id="326" r:id="rId7"/>
    <p:sldId id="327" r:id="rId8"/>
    <p:sldId id="328" r:id="rId9"/>
    <p:sldId id="329" r:id="rId10"/>
    <p:sldId id="330" r:id="rId11"/>
    <p:sldId id="331" r:id="rId12"/>
    <p:sldId id="322" r:id="rId13"/>
    <p:sldId id="332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1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5FFB4-EEE9-44C4-B3E0-81F6AFB35756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DB5B10-BB9E-45C8-A831-7A97B6720A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9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Целью данной работы было разработать систему которая будет автоматически определять эмоциональную окраску отзывов</a:t>
            </a:r>
          </a:p>
          <a:p>
            <a:r>
              <a:rPr lang="ru-RU" dirty="0"/>
              <a:t>Для осуществления поставленной цели надо было </a:t>
            </a:r>
          </a:p>
          <a:p>
            <a:r>
              <a:rPr lang="ru-RU" dirty="0"/>
              <a:t>во-первых собрать, подготовить и очистить наши данные</a:t>
            </a:r>
          </a:p>
          <a:p>
            <a:r>
              <a:rPr lang="ru-RU" dirty="0"/>
              <a:t>Реализовать и сравнить несколько моделей</a:t>
            </a:r>
          </a:p>
          <a:p>
            <a:r>
              <a:rPr lang="ru-RU" dirty="0"/>
              <a:t>И оценить практическую значимость полученных результатов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61119-6E07-568A-151E-2D06077C2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1558F-842B-AFF5-FB40-BDFBE77DB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C83D2-E96A-7A78-431B-7267D40F9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4E7DE-92FA-C162-A891-2AECC8D22B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7122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61119-6E07-568A-151E-2D06077C2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1558F-842B-AFF5-FB40-BDFBE77DB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C83D2-E96A-7A78-431B-7267D40F9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4E7DE-92FA-C162-A891-2AECC8D22B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7418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61119-6E07-568A-151E-2D06077C2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1558F-842B-AFF5-FB40-BDFBE77DB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C83D2-E96A-7A78-431B-7267D40F9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4E7DE-92FA-C162-A891-2AECC8D22B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426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Целью данной работы было разработать систему которая будет автоматически определять эмоциональную окраску отзывов</a:t>
            </a:r>
          </a:p>
          <a:p>
            <a:r>
              <a:rPr lang="ru-RU" dirty="0"/>
              <a:t>Для осуществления поставленной цели надо было </a:t>
            </a:r>
          </a:p>
          <a:p>
            <a:r>
              <a:rPr lang="ru-RU" dirty="0"/>
              <a:t>во-первых собрать, подготовить и очистить наши данные</a:t>
            </a:r>
          </a:p>
          <a:p>
            <a:r>
              <a:rPr lang="ru-RU" dirty="0"/>
              <a:t>Реализовать и сравнить несколько моделей</a:t>
            </a:r>
          </a:p>
          <a:p>
            <a:r>
              <a:rPr lang="ru-RU" dirty="0"/>
              <a:t>И оценить практическую значимость полученных результатов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Целью данной работы было разработать систему которая будет автоматически определять эмоциональную окраску отзывов</a:t>
            </a:r>
          </a:p>
          <a:p>
            <a:r>
              <a:rPr lang="ru-RU" dirty="0"/>
              <a:t>Для осуществления поставленной цели надо было </a:t>
            </a:r>
          </a:p>
          <a:p>
            <a:r>
              <a:rPr lang="ru-RU" dirty="0"/>
              <a:t>во-первых собрать, подготовить и очистить наши данные</a:t>
            </a:r>
          </a:p>
          <a:p>
            <a:r>
              <a:rPr lang="ru-RU" dirty="0"/>
              <a:t>Реализовать и сравнить несколько моделей</a:t>
            </a:r>
          </a:p>
          <a:p>
            <a:r>
              <a:rPr lang="ru-RU" dirty="0"/>
              <a:t>И оценить практическую значимость полученных результатов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97375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Целью данной работы было разработать систему которая будет автоматически определять эмоциональную окраску отзывов</a:t>
            </a:r>
          </a:p>
          <a:p>
            <a:r>
              <a:rPr lang="ru-RU" dirty="0"/>
              <a:t>Для осуществления поставленной цели надо было </a:t>
            </a:r>
          </a:p>
          <a:p>
            <a:r>
              <a:rPr lang="ru-RU" dirty="0"/>
              <a:t>во-первых собрать, подготовить и очистить наши данные</a:t>
            </a:r>
          </a:p>
          <a:p>
            <a:r>
              <a:rPr lang="ru-RU" dirty="0"/>
              <a:t>Реализовать и сравнить несколько моделей</a:t>
            </a:r>
          </a:p>
          <a:p>
            <a:r>
              <a:rPr lang="ru-RU" dirty="0"/>
              <a:t>И оценить практическую значимость полученных результатов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643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Целью данной работы было разработать систему которая будет автоматически определять эмоциональную окраску отзывов</a:t>
            </a:r>
          </a:p>
          <a:p>
            <a:r>
              <a:rPr lang="ru-RU" dirty="0"/>
              <a:t>Для осуществления поставленной цели надо было </a:t>
            </a:r>
          </a:p>
          <a:p>
            <a:r>
              <a:rPr lang="ru-RU" dirty="0"/>
              <a:t>во-первых собрать, подготовить и очистить наши данные</a:t>
            </a:r>
          </a:p>
          <a:p>
            <a:r>
              <a:rPr lang="ru-RU" dirty="0"/>
              <a:t>Реализовать и сравнить несколько моделей</a:t>
            </a:r>
          </a:p>
          <a:p>
            <a:r>
              <a:rPr lang="ru-RU" dirty="0"/>
              <a:t>И оценить практическую значимость полученных результатов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457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Целью данной работы было разработать систему которая будет автоматически определять эмоциональную окраску отзывов</a:t>
            </a:r>
          </a:p>
          <a:p>
            <a:r>
              <a:rPr lang="ru-RU" dirty="0"/>
              <a:t>Для осуществления поставленной цели надо было </a:t>
            </a:r>
          </a:p>
          <a:p>
            <a:r>
              <a:rPr lang="ru-RU" dirty="0"/>
              <a:t>во-первых собрать, подготовить и очистить наши данные</a:t>
            </a:r>
          </a:p>
          <a:p>
            <a:r>
              <a:rPr lang="ru-RU" dirty="0"/>
              <a:t>Реализовать и сравнить несколько моделей</a:t>
            </a:r>
          </a:p>
          <a:p>
            <a:r>
              <a:rPr lang="ru-RU" dirty="0"/>
              <a:t>И оценить практическую значимость полученных результатов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20215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Целью данной работы было разработать систему которая будет автоматически определять эмоциональную окраску отзывов</a:t>
            </a:r>
          </a:p>
          <a:p>
            <a:r>
              <a:rPr lang="ru-RU" dirty="0"/>
              <a:t>Для осуществления поставленной цели надо было </a:t>
            </a:r>
          </a:p>
          <a:p>
            <a:r>
              <a:rPr lang="ru-RU" dirty="0"/>
              <a:t>во-первых собрать, подготовить и очистить наши данные</a:t>
            </a:r>
          </a:p>
          <a:p>
            <a:r>
              <a:rPr lang="ru-RU" dirty="0"/>
              <a:t>Реализовать и сравнить несколько моделей</a:t>
            </a:r>
          </a:p>
          <a:p>
            <a:r>
              <a:rPr lang="ru-RU" dirty="0"/>
              <a:t>И оценить практическую значимость полученных результатов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77978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A9B1C-8C5B-8164-FC6B-C107369E7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9CE5FB-EAB2-E343-B186-4472A543A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4C9E0-31CC-8504-1FB8-6B77C47F4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Дальнейшее развитие проекта</a:t>
            </a:r>
          </a:p>
          <a:p>
            <a:r>
              <a:rPr lang="ru-RU" dirty="0"/>
              <a:t>Для повышения качества классификации целесообразным будет расширить обучающий набор данных, включив тексты из разных источников.</a:t>
            </a:r>
          </a:p>
          <a:p>
            <a:r>
              <a:rPr lang="ru-RU" dirty="0"/>
              <a:t>Использование современных языковых моделей, таких как BERT или </a:t>
            </a:r>
            <a:r>
              <a:rPr lang="ru-RU" dirty="0" err="1"/>
              <a:t>RuBERT</a:t>
            </a:r>
            <a:r>
              <a:rPr lang="ru-RU" dirty="0"/>
              <a:t>, которые учитывают контекст и способны лучше различать эмоциональные оттенки текста.</a:t>
            </a:r>
          </a:p>
          <a:p>
            <a:r>
              <a:rPr lang="ru-RU" dirty="0"/>
              <a:t>Также можно реализовать автоматическую адаптацию модели под конкретную предметную область и добавить визуальный интерфейс отчетности в виде веб-приложения.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2A883-967F-16B5-66C2-52E79E0C65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7218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Целью данной работы было разработать систему которая будет автоматически определять эмоциональную окраску отзывов</a:t>
            </a:r>
          </a:p>
          <a:p>
            <a:r>
              <a:rPr lang="ru-RU" dirty="0"/>
              <a:t>Для осуществления поставленной цели надо было </a:t>
            </a:r>
          </a:p>
          <a:p>
            <a:r>
              <a:rPr lang="ru-RU" dirty="0"/>
              <a:t>во-первых собрать, подготовить и очистить наши данные</a:t>
            </a:r>
          </a:p>
          <a:p>
            <a:r>
              <a:rPr lang="ru-RU" dirty="0"/>
              <a:t>Реализовать и сравнить несколько моделей</a:t>
            </a:r>
          </a:p>
          <a:p>
            <a:r>
              <a:rPr lang="ru-RU" dirty="0"/>
              <a:t>И оценить практическую значимость полученных результатов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5101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680" y="3223260"/>
            <a:ext cx="533333" cy="2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09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680" y="3223260"/>
            <a:ext cx="533333" cy="2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5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pic>
        <p:nvPicPr>
          <p:cNvPr id="3" name="Group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13500" y="1079500"/>
            <a:ext cx="5302250" cy="4699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4848680"/>
            <a:ext cx="4008005" cy="1051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/>
            <a:r>
              <a:rPr lang="ru-RU" sz="2400" dirty="0">
                <a:solidFill>
                  <a:prstClr val="black"/>
                </a:solidFill>
                <a:latin typeface="Nunito Bold" pitchFamily="2" charset="-52"/>
              </a:rPr>
              <a:t>Астахов Ростислав</a:t>
            </a:r>
          </a:p>
          <a:p>
            <a:pPr defTabSz="609630"/>
            <a:r>
              <a:rPr lang="ru-RU" sz="2400" dirty="0">
                <a:solidFill>
                  <a:prstClr val="black"/>
                </a:solidFill>
                <a:latin typeface="Nunito Bold" pitchFamily="2" charset="-52"/>
              </a:rPr>
              <a:t>ИСП-23в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8D9AD337-5F55-88DB-EB3D-0EDE04D91666}"/>
              </a:ext>
            </a:extLst>
          </p:cNvPr>
          <p:cNvSpPr/>
          <p:nvPr/>
        </p:nvSpPr>
        <p:spPr>
          <a:xfrm>
            <a:off x="577851" y="979631"/>
            <a:ext cx="6328276" cy="3458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/>
            <a:r>
              <a:rPr lang="ru-RU" sz="3600" dirty="0">
                <a:solidFill>
                  <a:prstClr val="black"/>
                </a:solidFill>
                <a:latin typeface="Nunito Bold" pitchFamily="2" charset="-52"/>
              </a:rPr>
              <a:t>Анализ видео контента на наличие подозрительных действий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3" name="default_name"/>
          <p:cNvSpPr/>
          <p:nvPr/>
        </p:nvSpPr>
        <p:spPr>
          <a:xfrm>
            <a:off x="476250" y="476250"/>
            <a:ext cx="3762057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/>
            <a:r>
              <a:rPr lang="ru-RU" sz="36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Цель и задачи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476250" y="1399504"/>
            <a:ext cx="11048406" cy="4361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>
              <a:lnSpc>
                <a:spcPct val="112500"/>
              </a:lnSpc>
            </a:pPr>
            <a:r>
              <a:rPr lang="ru-RU" sz="2800" dirty="0">
                <a:latin typeface="Nunito" pitchFamily="2" charset="-52"/>
              </a:rPr>
              <a:t>Цель: </a:t>
            </a:r>
            <a:r>
              <a:rPr lang="ru-RU" sz="2800" dirty="0">
                <a:solidFill>
                  <a:prstClr val="black"/>
                </a:solidFill>
                <a:latin typeface="Nunito" pitchFamily="2" charset="-52"/>
              </a:rPr>
              <a:t> создание веб-системы, способной анализировать видео в реальном времени и выявлять подозрительные действия.</a:t>
            </a:r>
            <a:endParaRPr lang="en-US" sz="2800" dirty="0">
              <a:solidFill>
                <a:prstClr val="black"/>
              </a:solidFill>
              <a:latin typeface="Nunito" pitchFamily="2" charset="-52"/>
            </a:endParaRPr>
          </a:p>
        </p:txBody>
      </p:sp>
      <p:pic>
        <p:nvPicPr>
          <p:cNvPr id="1026" name="Picture 2" descr="Презентация ">
            <a:extLst>
              <a:ext uri="{FF2B5EF4-FFF2-40B4-BE49-F238E27FC236}">
                <a16:creationId xmlns:a16="http://schemas.microsoft.com/office/drawing/2014/main" id="{54792FBD-3711-842C-4255-BDFB9ECB5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3032" y="5209005"/>
            <a:ext cx="1055771" cy="1055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CD1867-6927-4F5D-98CC-8B310AAA4852}"/>
              </a:ext>
            </a:extLst>
          </p:cNvPr>
          <p:cNvSpPr txBox="1"/>
          <p:nvPr/>
        </p:nvSpPr>
        <p:spPr>
          <a:xfrm>
            <a:off x="392103" y="2703163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Nunito" pitchFamily="2" charset="-52"/>
              </a:rPr>
              <a:t>Задачи:</a:t>
            </a:r>
            <a:endParaRPr lang="ru-RU" sz="2400" dirty="0">
              <a:latin typeface="Nunito" pitchFamily="2" charset="-5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Nunito" pitchFamily="2" charset="-52"/>
              </a:rPr>
              <a:t>Реализовать модуль детекции объектов (YOLOv8)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Nunito" pitchFamily="2" charset="-52"/>
              </a:rPr>
              <a:t>Создать алгоритмы анализа поведения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Nunito" pitchFamily="2" charset="-52"/>
              </a:rPr>
              <a:t>Разработать веб-интерфейс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Nunito" pitchFamily="2" charset="-52"/>
              </a:rPr>
              <a:t>Настроить систему уведомлений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Nunito" pitchFamily="2" charset="-52"/>
              </a:rPr>
              <a:t>Провести тестирование точности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DD3BA-BD86-3D7B-BEEA-8C19CBAF7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>
            <a:extLst>
              <a:ext uri="{FF2B5EF4-FFF2-40B4-BE49-F238E27FC236}">
                <a16:creationId xmlns:a16="http://schemas.microsoft.com/office/drawing/2014/main" id="{F2B372CF-20ED-3878-C738-15FC82A755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4B25D4-7040-4104-BC7F-89567F329911}"/>
              </a:ext>
            </a:extLst>
          </p:cNvPr>
          <p:cNvSpPr txBox="1"/>
          <p:nvPr/>
        </p:nvSpPr>
        <p:spPr>
          <a:xfrm>
            <a:off x="0" y="350800"/>
            <a:ext cx="86948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dirty="0">
                <a:latin typeface="Nunito Bold" pitchFamily="2" charset="-52"/>
              </a:rPr>
              <a:t>Актуальность проекта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A7A43E-0208-4A22-87A8-A8E76467D100}"/>
              </a:ext>
            </a:extLst>
          </p:cNvPr>
          <p:cNvSpPr txBox="1"/>
          <p:nvPr/>
        </p:nvSpPr>
        <p:spPr>
          <a:xfrm>
            <a:off x="476250" y="248962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Nunito" pitchFamily="2" charset="-52"/>
              </a:rPr>
              <a:t>Содержимое:</a:t>
            </a:r>
            <a:endParaRPr lang="ru-RU" sz="2400" dirty="0">
              <a:latin typeface="Nunito" pitchFamily="2" charset="-5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Nunito" pitchFamily="2" charset="-52"/>
              </a:rPr>
              <a:t>Рост потребности в интеллектуальном видеонаблюдении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Nunito" pitchFamily="2" charset="-52"/>
              </a:rPr>
              <a:t>Ограниченность человеческого контроля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Nunito" pitchFamily="2" charset="-52"/>
              </a:rPr>
              <a:t>Возможности ИИ-аналитики</a:t>
            </a:r>
          </a:p>
        </p:txBody>
      </p:sp>
    </p:spTree>
    <p:extLst>
      <p:ext uri="{BB962C8B-B14F-4D97-AF65-F5344CB8AC3E}">
        <p14:creationId xmlns:p14="http://schemas.microsoft.com/office/powerpoint/2010/main" val="2525855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DD3BA-BD86-3D7B-BEEA-8C19CBAF7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>
            <a:extLst>
              <a:ext uri="{FF2B5EF4-FFF2-40B4-BE49-F238E27FC236}">
                <a16:creationId xmlns:a16="http://schemas.microsoft.com/office/drawing/2014/main" id="{F2B372CF-20ED-3878-C738-15FC82A755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9F0491-4D2C-49B7-9B63-C62C0FBE71F5}"/>
              </a:ext>
            </a:extLst>
          </p:cNvPr>
          <p:cNvSpPr txBox="1"/>
          <p:nvPr/>
        </p:nvSpPr>
        <p:spPr>
          <a:xfrm>
            <a:off x="476250" y="476250"/>
            <a:ext cx="70585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Nunito ExtraBold" pitchFamily="2" charset="-52"/>
              </a:rPr>
              <a:t>Анализ предметной области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651F2A-4EEA-4122-8228-DE9DC444EEA8}"/>
              </a:ext>
            </a:extLst>
          </p:cNvPr>
          <p:cNvSpPr txBox="1"/>
          <p:nvPr/>
        </p:nvSpPr>
        <p:spPr>
          <a:xfrm>
            <a:off x="476250" y="2428716"/>
            <a:ext cx="469174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-52"/>
              </a:rPr>
              <a:t>Существующие решения: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unito" pitchFamily="2" charset="-5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-52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-52"/>
              </a:rPr>
              <a:t>Ivideon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-52"/>
              </a:rPr>
              <a:t>,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-52"/>
              </a:rPr>
              <a:t>VisionLabs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-52"/>
              </a:rPr>
              <a:t>,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-52"/>
              </a:rPr>
              <a:t>Hikvision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unito" pitchFamily="2" charset="-5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unito" pitchFamily="2" charset="-5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-52"/>
              </a:rPr>
              <a:t>Минусы: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unito" pitchFamily="2" charset="-5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-52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-52"/>
              </a:rPr>
              <a:t>высокая цена</a:t>
            </a:r>
            <a:endParaRPr lang="en-US" altLang="ru-RU" sz="2400" dirty="0">
              <a:latin typeface="Nunito" pitchFamily="2" charset="-5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-52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-52"/>
              </a:rPr>
              <a:t>закрытый код</a:t>
            </a:r>
            <a:endParaRPr lang="en-US" altLang="ru-RU" sz="2400" dirty="0">
              <a:latin typeface="Nunito" pitchFamily="2" charset="-5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-52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-52"/>
              </a:rPr>
              <a:t>сложная настройка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1DCB88-CEAD-4D49-AA7D-DCEFE8AED945}"/>
              </a:ext>
            </a:extLst>
          </p:cNvPr>
          <p:cNvSpPr txBox="1"/>
          <p:nvPr/>
        </p:nvSpPr>
        <p:spPr>
          <a:xfrm>
            <a:off x="6096000" y="2428716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-52"/>
              </a:rPr>
              <a:t>Преимущества проекта: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2400" dirty="0">
                <a:latin typeface="Nunito" pitchFamily="2" charset="-52"/>
              </a:rPr>
              <a:t> Б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-52"/>
              </a:rPr>
              <a:t>есплатность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2400" dirty="0">
                <a:latin typeface="Nunito" pitchFamily="2" charset="-52"/>
              </a:rPr>
              <a:t> О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-52"/>
              </a:rPr>
              <a:t>ткрытые технологии</a:t>
            </a:r>
            <a:endParaRPr lang="ru-RU" altLang="ru-RU" sz="2400" dirty="0">
              <a:latin typeface="Nunito" pitchFamily="2" charset="-5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-52"/>
              </a:rPr>
              <a:t> Гибкость</a:t>
            </a:r>
          </a:p>
        </p:txBody>
      </p:sp>
      <p:pic>
        <p:nvPicPr>
          <p:cNvPr id="13" name="Picture 2" descr="Презентация ">
            <a:extLst>
              <a:ext uri="{FF2B5EF4-FFF2-40B4-BE49-F238E27FC236}">
                <a16:creationId xmlns:a16="http://schemas.microsoft.com/office/drawing/2014/main" id="{F6EFC88B-A795-4340-859B-319A8736D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3032" y="5209005"/>
            <a:ext cx="1055771" cy="1055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067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DD3BA-BD86-3D7B-BEEA-8C19CBAF7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2F83CCE9-B4FF-434A-B278-0122EC68D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4506" y="3187972"/>
            <a:ext cx="9842500" cy="1435100"/>
          </a:xfrm>
          <a:prstGeom prst="rect">
            <a:avLst/>
          </a:prstGeom>
        </p:spPr>
      </p:pic>
      <p:pic>
        <p:nvPicPr>
          <p:cNvPr id="2" name="Black_pixel_logoFTC.png" descr="preencoded.png">
            <a:extLst>
              <a:ext uri="{FF2B5EF4-FFF2-40B4-BE49-F238E27FC236}">
                <a16:creationId xmlns:a16="http://schemas.microsoft.com/office/drawing/2014/main" id="{F2B372CF-20ED-3878-C738-15FC82A755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9F0491-4D2C-49B7-9B63-C62C0FBE71F5}"/>
              </a:ext>
            </a:extLst>
          </p:cNvPr>
          <p:cNvSpPr txBox="1"/>
          <p:nvPr/>
        </p:nvSpPr>
        <p:spPr>
          <a:xfrm>
            <a:off x="476250" y="476250"/>
            <a:ext cx="70585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ExtraBold" pitchFamily="2" charset="-52"/>
                <a:ea typeface="+mn-ea"/>
                <a:cs typeface="+mn-cs"/>
              </a:rPr>
              <a:t>Архитектура системы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5024227-5E8B-4B18-9F04-BEE22262E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1453" y="1993900"/>
            <a:ext cx="9842500" cy="14351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0EE2A8F-B856-4BC0-8A38-389075826D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2753" y="1782937"/>
            <a:ext cx="3173163" cy="156979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EFEEE7D-FB6F-4816-ACB6-5FD1778640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43554" y="1786625"/>
            <a:ext cx="3173163" cy="156979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A4D4EDF-5219-4D68-8635-E5D5EEF3E8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9418" y="1778774"/>
            <a:ext cx="3173163" cy="156979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F31628E-BE25-41A6-90E7-276C4023DF0E}"/>
              </a:ext>
            </a:extLst>
          </p:cNvPr>
          <p:cNvSpPr txBox="1"/>
          <p:nvPr/>
        </p:nvSpPr>
        <p:spPr>
          <a:xfrm>
            <a:off x="630313" y="1940343"/>
            <a:ext cx="226772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/>
            <a:r>
              <a:rPr lang="en-US" sz="2133" dirty="0">
                <a:solidFill>
                  <a:prstClr val="white"/>
                </a:solidFill>
                <a:latin typeface="Nunito Sans Bold"/>
                <a:ea typeface="Nunito Sans SemiBold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C93A5C-9F49-4914-A44B-CEA92417D2F1}"/>
              </a:ext>
            </a:extLst>
          </p:cNvPr>
          <p:cNvSpPr txBox="1"/>
          <p:nvPr/>
        </p:nvSpPr>
        <p:spPr>
          <a:xfrm>
            <a:off x="631524" y="2312924"/>
            <a:ext cx="2726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/>
            <a:r>
              <a:rPr lang="ru-RU" sz="2800" dirty="0">
                <a:latin typeface="Nunito" pitchFamily="2" charset="-52"/>
              </a:rPr>
              <a:t>Камера </a:t>
            </a:r>
            <a:endParaRPr lang="en-US" sz="2667" dirty="0">
              <a:solidFill>
                <a:prstClr val="black"/>
              </a:solidFill>
              <a:latin typeface="Nunito" pitchFamily="2" charset="-52"/>
              <a:ea typeface="Nunito Sans Semi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C635A4-A972-4522-A6FA-C03648AD39EB}"/>
              </a:ext>
            </a:extLst>
          </p:cNvPr>
          <p:cNvSpPr txBox="1"/>
          <p:nvPr/>
        </p:nvSpPr>
        <p:spPr>
          <a:xfrm>
            <a:off x="4695170" y="1945946"/>
            <a:ext cx="226772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/>
            <a:r>
              <a:rPr lang="en-US" sz="2133" dirty="0">
                <a:solidFill>
                  <a:prstClr val="white"/>
                </a:solidFill>
                <a:latin typeface="Nunito Sans Bold"/>
                <a:ea typeface="Nunito Sans SemiBold"/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391E67-84D5-454F-B664-A14091F55604}"/>
              </a:ext>
            </a:extLst>
          </p:cNvPr>
          <p:cNvSpPr txBox="1"/>
          <p:nvPr/>
        </p:nvSpPr>
        <p:spPr>
          <a:xfrm>
            <a:off x="4735974" y="2312924"/>
            <a:ext cx="2356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/>
            <a:r>
              <a:rPr lang="en-US" sz="2800" dirty="0">
                <a:latin typeface="Nunito" pitchFamily="2" charset="-52"/>
              </a:rPr>
              <a:t>Flask </a:t>
            </a:r>
            <a:r>
              <a:rPr lang="ru-RU" sz="2800" dirty="0">
                <a:latin typeface="Nunito" pitchFamily="2" charset="-52"/>
              </a:rPr>
              <a:t>сервер </a:t>
            </a:r>
            <a:endParaRPr lang="en-US" sz="2667" dirty="0">
              <a:solidFill>
                <a:prstClr val="black"/>
              </a:solidFill>
              <a:latin typeface="Nunito" pitchFamily="2" charset="-52"/>
              <a:ea typeface="Nunito Sans SemiBol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B5D538-68C2-401A-8C0C-51CD656B48DB}"/>
              </a:ext>
            </a:extLst>
          </p:cNvPr>
          <p:cNvSpPr txBox="1"/>
          <p:nvPr/>
        </p:nvSpPr>
        <p:spPr>
          <a:xfrm>
            <a:off x="8741518" y="1952288"/>
            <a:ext cx="226772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/>
            <a:r>
              <a:rPr lang="en-US" sz="2133" dirty="0">
                <a:solidFill>
                  <a:prstClr val="white"/>
                </a:solidFill>
                <a:latin typeface="Nunito Sans Bold"/>
                <a:ea typeface="Nunito Sans SemiBold"/>
              </a:rPr>
              <a:t>3</a:t>
            </a:r>
            <a:endParaRPr lang="en-US" sz="1600" dirty="0">
              <a:solidFill>
                <a:prstClr val="white"/>
              </a:solidFill>
              <a:latin typeface="Nunito Sans Bold"/>
              <a:ea typeface="Nunito Sans Semi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EE7E93-3122-48A8-BC6E-13854E80EB5E}"/>
              </a:ext>
            </a:extLst>
          </p:cNvPr>
          <p:cNvSpPr txBox="1"/>
          <p:nvPr/>
        </p:nvSpPr>
        <p:spPr>
          <a:xfrm>
            <a:off x="8779575" y="2312923"/>
            <a:ext cx="2598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/>
            <a:r>
              <a:rPr lang="en-US" sz="2800" dirty="0">
                <a:latin typeface="Nunito" pitchFamily="2" charset="-52"/>
              </a:rPr>
              <a:t>YOLOv8 </a:t>
            </a:r>
            <a:endParaRPr lang="en-US" sz="2667" dirty="0">
              <a:solidFill>
                <a:prstClr val="black"/>
              </a:solidFill>
              <a:latin typeface="Nunito" pitchFamily="2" charset="-52"/>
              <a:ea typeface="Nunito Sans SemiBold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F5D7622-E7B0-4C20-A2ED-FA2BA76A5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1453" y="4228211"/>
            <a:ext cx="9842500" cy="14351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F6595D3-B4FF-4755-A496-C823E08E93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2753" y="4017248"/>
            <a:ext cx="3173163" cy="1569792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481332A-275A-421D-90CB-9C8D7EFD52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43554" y="4020936"/>
            <a:ext cx="3173163" cy="1569792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6EFACFA-36AB-4259-A16E-55C92E3E91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9418" y="4013085"/>
            <a:ext cx="3173163" cy="156979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AFE7F54-CB71-4B7F-AD2C-B154B5174385}"/>
              </a:ext>
            </a:extLst>
          </p:cNvPr>
          <p:cNvSpPr txBox="1"/>
          <p:nvPr/>
        </p:nvSpPr>
        <p:spPr>
          <a:xfrm>
            <a:off x="630313" y="4174654"/>
            <a:ext cx="226772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/>
            <a:r>
              <a:rPr lang="en-US" sz="2133" dirty="0">
                <a:solidFill>
                  <a:prstClr val="white"/>
                </a:solidFill>
                <a:latin typeface="Nunito Sans Bold"/>
                <a:ea typeface="Nunito Sans SemiBold"/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C16BD8-B54B-4067-8C82-732AEE7903C9}"/>
              </a:ext>
            </a:extLst>
          </p:cNvPr>
          <p:cNvSpPr txBox="1"/>
          <p:nvPr/>
        </p:nvSpPr>
        <p:spPr>
          <a:xfrm>
            <a:off x="631524" y="4547235"/>
            <a:ext cx="27260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/>
            <a:r>
              <a:rPr lang="ru-RU" sz="2800" dirty="0">
                <a:latin typeface="Nunito" pitchFamily="2" charset="-52"/>
              </a:rPr>
              <a:t>Анализ поведения </a:t>
            </a:r>
            <a:endParaRPr lang="en-US" sz="2667" dirty="0">
              <a:solidFill>
                <a:prstClr val="black"/>
              </a:solidFill>
              <a:latin typeface="Nunito" pitchFamily="2" charset="-52"/>
              <a:ea typeface="Nunito Sans SemiBold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414CDD-1FA3-4FC5-B256-0C248F2D2CF2}"/>
              </a:ext>
            </a:extLst>
          </p:cNvPr>
          <p:cNvSpPr txBox="1"/>
          <p:nvPr/>
        </p:nvSpPr>
        <p:spPr>
          <a:xfrm>
            <a:off x="4695170" y="4180257"/>
            <a:ext cx="226772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/>
            <a:r>
              <a:rPr lang="en-US" sz="2133" dirty="0">
                <a:solidFill>
                  <a:prstClr val="white"/>
                </a:solidFill>
                <a:latin typeface="Nunito Sans Bold"/>
                <a:ea typeface="Nunito Sans SemiBold"/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E90E24-7517-430B-82C9-48C012F3D015}"/>
              </a:ext>
            </a:extLst>
          </p:cNvPr>
          <p:cNvSpPr txBox="1"/>
          <p:nvPr/>
        </p:nvSpPr>
        <p:spPr>
          <a:xfrm>
            <a:off x="4735974" y="4547235"/>
            <a:ext cx="2356959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/>
            <a:r>
              <a:rPr lang="ru-RU" sz="2667" dirty="0">
                <a:solidFill>
                  <a:prstClr val="black"/>
                </a:solidFill>
                <a:latin typeface="Nunito" pitchFamily="2" charset="-52"/>
                <a:ea typeface="Nunito Sans SemiBold"/>
              </a:rPr>
              <a:t>База данных</a:t>
            </a:r>
            <a:endParaRPr lang="en-US" sz="2667" dirty="0">
              <a:solidFill>
                <a:prstClr val="black"/>
              </a:solidFill>
              <a:latin typeface="Nunito" pitchFamily="2" charset="-52"/>
              <a:ea typeface="Nunito Sans SemiBold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74DCCE-0086-4A41-9B59-BEFF3566FFCE}"/>
              </a:ext>
            </a:extLst>
          </p:cNvPr>
          <p:cNvSpPr txBox="1"/>
          <p:nvPr/>
        </p:nvSpPr>
        <p:spPr>
          <a:xfrm>
            <a:off x="8741518" y="4186599"/>
            <a:ext cx="226772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/>
            <a:r>
              <a:rPr lang="en-US" sz="2133" dirty="0">
                <a:solidFill>
                  <a:prstClr val="white"/>
                </a:solidFill>
                <a:latin typeface="Nunito Sans Bold"/>
                <a:ea typeface="Nunito Sans SemiBold"/>
              </a:rPr>
              <a:t>6</a:t>
            </a:r>
            <a:endParaRPr lang="en-US" sz="1600" dirty="0">
              <a:solidFill>
                <a:prstClr val="white"/>
              </a:solidFill>
              <a:latin typeface="Nunito Sans Bold"/>
              <a:ea typeface="Nunito Sans SemiBold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EE9839-FFA2-44F2-AB29-CB42FE495AB2}"/>
              </a:ext>
            </a:extLst>
          </p:cNvPr>
          <p:cNvSpPr txBox="1"/>
          <p:nvPr/>
        </p:nvSpPr>
        <p:spPr>
          <a:xfrm>
            <a:off x="8779575" y="4547234"/>
            <a:ext cx="25983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/>
            <a:r>
              <a:rPr lang="ru-RU" sz="2800" dirty="0">
                <a:latin typeface="Nunito" pitchFamily="2" charset="-52"/>
              </a:rPr>
              <a:t>Веб-интерфейс</a:t>
            </a:r>
            <a:endParaRPr lang="en-US" sz="2667" dirty="0">
              <a:solidFill>
                <a:prstClr val="black"/>
              </a:solidFill>
              <a:latin typeface="Nunito" pitchFamily="2" charset="-52"/>
              <a:ea typeface="Nunito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639519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3" name="default_name"/>
          <p:cNvSpPr/>
          <p:nvPr/>
        </p:nvSpPr>
        <p:spPr>
          <a:xfrm>
            <a:off x="476250" y="476250"/>
            <a:ext cx="6125076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/>
            <a:r>
              <a:rPr lang="ru-RU" sz="36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Технологический стек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476250" y="2400883"/>
            <a:ext cx="8395034" cy="2234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>
              <a:lnSpc>
                <a:spcPct val="112500"/>
              </a:lnSpc>
            </a:pPr>
            <a:r>
              <a:rPr lang="en-US" sz="2933" dirty="0">
                <a:solidFill>
                  <a:prstClr val="black"/>
                </a:solidFill>
                <a:latin typeface="Nunito" pitchFamily="2" charset="-52"/>
              </a:rPr>
              <a:t>Backend:</a:t>
            </a:r>
            <a:endParaRPr lang="ru-RU" sz="2933" dirty="0">
              <a:solidFill>
                <a:prstClr val="black"/>
              </a:solidFill>
              <a:latin typeface="Nunito" pitchFamily="2" charset="-52"/>
            </a:endParaRPr>
          </a:p>
          <a:p>
            <a:pPr marL="457200" indent="-457200" defTabSz="609630">
              <a:lnSpc>
                <a:spcPct val="112500"/>
              </a:lnSpc>
              <a:buFont typeface="Arial" panose="020B0604020202020204" pitchFamily="34" charset="0"/>
              <a:buChar char="•"/>
            </a:pPr>
            <a:r>
              <a:rPr lang="en-US" sz="2933" dirty="0">
                <a:solidFill>
                  <a:prstClr val="black"/>
                </a:solidFill>
                <a:latin typeface="Nunito" pitchFamily="2" charset="-52"/>
              </a:rPr>
              <a:t>Python, Flask, </a:t>
            </a:r>
            <a:r>
              <a:rPr lang="en-US" sz="2933" dirty="0" err="1">
                <a:solidFill>
                  <a:prstClr val="black"/>
                </a:solidFill>
                <a:latin typeface="Nunito" pitchFamily="2" charset="-52"/>
              </a:rPr>
              <a:t>SQLAlchemy</a:t>
            </a:r>
            <a:endParaRPr lang="ru-RU" sz="2933" dirty="0">
              <a:solidFill>
                <a:prstClr val="black"/>
              </a:solidFill>
              <a:latin typeface="Nunito" pitchFamily="2" charset="-52"/>
            </a:endParaRPr>
          </a:p>
          <a:p>
            <a:pPr marL="457200" indent="-457200" defTabSz="609630">
              <a:lnSpc>
                <a:spcPct val="112500"/>
              </a:lnSpc>
              <a:buFont typeface="Arial" panose="020B0604020202020204" pitchFamily="34" charset="0"/>
              <a:buChar char="•"/>
            </a:pPr>
            <a:r>
              <a:rPr lang="en-US" sz="2933" dirty="0">
                <a:solidFill>
                  <a:prstClr val="black"/>
                </a:solidFill>
                <a:latin typeface="Nunito" pitchFamily="2" charset="-52"/>
              </a:rPr>
              <a:t>ML: YOLOv8, </a:t>
            </a:r>
            <a:r>
              <a:rPr lang="en-US" sz="2933" dirty="0" err="1">
                <a:solidFill>
                  <a:prstClr val="black"/>
                </a:solidFill>
                <a:latin typeface="Nunito" pitchFamily="2" charset="-52"/>
              </a:rPr>
              <a:t>PyTorch</a:t>
            </a:r>
            <a:r>
              <a:rPr lang="en-US" sz="2933" dirty="0">
                <a:solidFill>
                  <a:prstClr val="black"/>
                </a:solidFill>
                <a:latin typeface="Nunito" pitchFamily="2" charset="-52"/>
              </a:rPr>
              <a:t>, OpenCV, NumPy</a:t>
            </a:r>
            <a:endParaRPr lang="ru-RU" sz="2933" dirty="0">
              <a:solidFill>
                <a:prstClr val="black"/>
              </a:solidFill>
              <a:latin typeface="Nunito" pitchFamily="2" charset="-52"/>
            </a:endParaRPr>
          </a:p>
          <a:p>
            <a:pPr marL="457200" indent="-457200" defTabSz="609630">
              <a:lnSpc>
                <a:spcPct val="112500"/>
              </a:lnSpc>
              <a:buFont typeface="Arial" panose="020B0604020202020204" pitchFamily="34" charset="0"/>
              <a:buChar char="•"/>
            </a:pPr>
            <a:r>
              <a:rPr lang="en-US" sz="2933" dirty="0">
                <a:solidFill>
                  <a:prstClr val="black"/>
                </a:solidFill>
                <a:latin typeface="Nunito" pitchFamily="2" charset="-52"/>
              </a:rPr>
              <a:t>Frontend: HTML5, CSS3, JS (WebRTC, Canvas)</a:t>
            </a:r>
            <a:endParaRPr lang="en-US" sz="2600" dirty="0">
              <a:solidFill>
                <a:prstClr val="black"/>
              </a:solidFill>
              <a:latin typeface="Nunito" pitchFamily="2" charset="-52"/>
            </a:endParaRPr>
          </a:p>
        </p:txBody>
      </p:sp>
      <p:pic>
        <p:nvPicPr>
          <p:cNvPr id="1026" name="Picture 2" descr="Презентация ">
            <a:extLst>
              <a:ext uri="{FF2B5EF4-FFF2-40B4-BE49-F238E27FC236}">
                <a16:creationId xmlns:a16="http://schemas.microsoft.com/office/drawing/2014/main" id="{54792FBD-3711-842C-4255-BDFB9ECB5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3032" y="5209005"/>
            <a:ext cx="1055771" cy="1055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3" name="default_name"/>
          <p:cNvSpPr/>
          <p:nvPr/>
        </p:nvSpPr>
        <p:spPr>
          <a:xfrm>
            <a:off x="476249" y="476250"/>
            <a:ext cx="7071561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Модель машинного обучения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76249" y="2311983"/>
            <a:ext cx="8395034" cy="2234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marR="0" lvl="0" indent="-457200" algn="l" defTabSz="60963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-52"/>
                <a:ea typeface="+mn-ea"/>
                <a:cs typeface="+mn-cs"/>
              </a:rPr>
              <a:t>YOLOv8: архитектура, принцип «одного прохода»</a:t>
            </a:r>
          </a:p>
          <a:p>
            <a:pPr marL="457200" marR="0" lvl="0" indent="-457200" algn="l" defTabSz="60963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-52"/>
                <a:ea typeface="+mn-ea"/>
                <a:cs typeface="+mn-cs"/>
              </a:rPr>
              <a:t>Классы объектов: человек, транспорт, нож, пистолет, рюкзак</a:t>
            </a:r>
          </a:p>
          <a:p>
            <a:pPr marL="457200" marR="0" lvl="0" indent="-457200" algn="l" defTabSz="60963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-52"/>
                <a:ea typeface="+mn-ea"/>
                <a:cs typeface="+mn-cs"/>
              </a:rPr>
              <a:t>Метрика точности: F1-score = 0.85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-52"/>
              <a:ea typeface="+mn-ea"/>
              <a:cs typeface="+mn-cs"/>
            </a:endParaRPr>
          </a:p>
        </p:txBody>
      </p:sp>
      <p:pic>
        <p:nvPicPr>
          <p:cNvPr id="1026" name="Picture 2" descr="Презентация ">
            <a:extLst>
              <a:ext uri="{FF2B5EF4-FFF2-40B4-BE49-F238E27FC236}">
                <a16:creationId xmlns:a16="http://schemas.microsoft.com/office/drawing/2014/main" id="{54792FBD-3711-842C-4255-BDFB9ECB5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3032" y="5209005"/>
            <a:ext cx="1055771" cy="1055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3094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3" name="default_name"/>
          <p:cNvSpPr/>
          <p:nvPr/>
        </p:nvSpPr>
        <p:spPr>
          <a:xfrm>
            <a:off x="476249" y="476250"/>
            <a:ext cx="7071561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Анализ поведения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76249" y="2400883"/>
            <a:ext cx="8395034" cy="2234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marR="0" lvl="0" indent="-457200" algn="l" defTabSz="60963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-52"/>
                <a:ea typeface="+mn-ea"/>
                <a:cs typeface="+mn-cs"/>
              </a:rPr>
              <a:t>Проверка близости к камере</a:t>
            </a:r>
          </a:p>
          <a:p>
            <a:pPr marL="457200" marR="0" lvl="0" indent="-457200" algn="l" defTabSz="60963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-52"/>
                <a:ea typeface="+mn-ea"/>
                <a:cs typeface="+mn-cs"/>
              </a:rPr>
              <a:t>Обнаружение оружия</a:t>
            </a:r>
          </a:p>
          <a:p>
            <a:pPr marL="457200" marR="0" lvl="0" indent="-457200" algn="l" defTabSz="60963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-52"/>
                <a:ea typeface="+mn-ea"/>
                <a:cs typeface="+mn-cs"/>
              </a:rPr>
              <a:t>Необычные движения</a:t>
            </a:r>
          </a:p>
          <a:p>
            <a:pPr marL="457200" marR="0" lvl="0" indent="-457200" algn="l" defTabSz="60963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-52"/>
                <a:ea typeface="+mn-ea"/>
                <a:cs typeface="+mn-cs"/>
              </a:rPr>
              <a:t>Контекстный анализ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5235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3" name="default_name"/>
          <p:cNvSpPr/>
          <p:nvPr/>
        </p:nvSpPr>
        <p:spPr>
          <a:xfrm>
            <a:off x="476249" y="476250"/>
            <a:ext cx="7071561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Интерфейс пользователя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76249" y="2400883"/>
            <a:ext cx="8395034" cy="2234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marR="0" lvl="0" indent="-457200" algn="l" defTabSz="60963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-52"/>
                <a:ea typeface="+mn-ea"/>
                <a:cs typeface="+mn-cs"/>
              </a:rPr>
              <a:t>Сюда картинки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4255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3" name="default_name"/>
          <p:cNvSpPr/>
          <p:nvPr/>
        </p:nvSpPr>
        <p:spPr>
          <a:xfrm>
            <a:off x="476249" y="476250"/>
            <a:ext cx="8860256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Система уведомлений и безопасность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76249" y="2793914"/>
            <a:ext cx="8395034" cy="2234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marR="0" lvl="0" indent="-457200" algn="l" defTabSz="60963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-52"/>
                <a:ea typeface="+mn-ea"/>
                <a:cs typeface="+mn-cs"/>
              </a:rPr>
              <a:t>Email и веб-оповещения</a:t>
            </a:r>
          </a:p>
          <a:p>
            <a:pPr marL="457200" marR="0" lvl="0" indent="-457200" algn="l" defTabSz="60963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-52"/>
                <a:ea typeface="+mn-ea"/>
                <a:cs typeface="+mn-cs"/>
              </a:rPr>
              <a:t>Прикрепление кадров с нарушением</a:t>
            </a:r>
          </a:p>
          <a:p>
            <a:pPr marL="457200" marR="0" lvl="0" indent="-457200" algn="l" defTabSz="60963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-52"/>
                <a:ea typeface="+mn-ea"/>
                <a:cs typeface="+mn-cs"/>
              </a:rPr>
              <a:t>HTTPS, защита от XSS/SQL-инъекций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7855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3" name="default_name"/>
          <p:cNvSpPr/>
          <p:nvPr/>
        </p:nvSpPr>
        <p:spPr>
          <a:xfrm>
            <a:off x="476249" y="476250"/>
            <a:ext cx="7071561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Тестирование и результаты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76249" y="2311983"/>
            <a:ext cx="8395034" cy="2234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marR="0" lvl="0" indent="-457200" algn="l" defTabSz="60963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-52"/>
                <a:ea typeface="+mn-ea"/>
                <a:cs typeface="+mn-cs"/>
              </a:rPr>
              <a:t>Точность детекции людей - 92%</a:t>
            </a:r>
          </a:p>
          <a:p>
            <a:pPr marL="457200" marR="0" lvl="0" indent="-457200" algn="l" defTabSz="60963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-52"/>
                <a:ea typeface="+mn-ea"/>
                <a:cs typeface="+mn-cs"/>
              </a:rPr>
              <a:t>Скорость на GPU - до 20 кадров/с</a:t>
            </a:r>
          </a:p>
          <a:p>
            <a:pPr marL="457200" marR="0" lvl="0" indent="-457200" algn="l" defTabSz="60963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-52"/>
                <a:ea typeface="+mn-ea"/>
                <a:cs typeface="+mn-cs"/>
              </a:rPr>
              <a:t>Стабильность - 99.5% 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-52"/>
                <a:ea typeface="+mn-ea"/>
                <a:cs typeface="+mn-cs"/>
              </a:rPr>
              <a:t>uptime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-52"/>
              <a:ea typeface="+mn-ea"/>
              <a:cs typeface="+mn-cs"/>
            </a:endParaRPr>
          </a:p>
        </p:txBody>
      </p:sp>
      <p:pic>
        <p:nvPicPr>
          <p:cNvPr id="1026" name="Picture 2" descr="Презентация ">
            <a:extLst>
              <a:ext uri="{FF2B5EF4-FFF2-40B4-BE49-F238E27FC236}">
                <a16:creationId xmlns:a16="http://schemas.microsoft.com/office/drawing/2014/main" id="{54792FBD-3711-842C-4255-BDFB9ECB5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3032" y="5209005"/>
            <a:ext cx="1055771" cy="1055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9151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0D11A-DCD9-7073-52B3-3F931B005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>
            <a:extLst>
              <a:ext uri="{FF2B5EF4-FFF2-40B4-BE49-F238E27FC236}">
                <a16:creationId xmlns:a16="http://schemas.microsoft.com/office/drawing/2014/main" id="{B9427F45-6C10-C969-525D-352D2C9C4E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4FD180D-A1DC-69A4-C381-67A5179799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250" y="1368426"/>
            <a:ext cx="5200650" cy="3959225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7CA259DA-7442-08F7-59EF-7CFD3D4044D4}"/>
              </a:ext>
            </a:extLst>
          </p:cNvPr>
          <p:cNvSpPr/>
          <p:nvPr/>
        </p:nvSpPr>
        <p:spPr>
          <a:xfrm>
            <a:off x="698500" y="1530350"/>
            <a:ext cx="4830033" cy="357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95325" indent="-495325" defTabSz="609630">
              <a:lnSpc>
                <a:spcPct val="125000"/>
              </a:lnSpc>
              <a:buFontTx/>
              <a:buAutoNum type="arabicPeriod"/>
            </a:pPr>
            <a:r>
              <a:rPr lang="ru-RU" sz="2400" dirty="0">
                <a:solidFill>
                  <a:srgbClr val="000000"/>
                </a:solidFill>
                <a:latin typeface="Nunito Sans" pitchFamily="2" charset="-52"/>
              </a:rPr>
              <a:t>Поддержка нескольких камер</a:t>
            </a:r>
          </a:p>
          <a:p>
            <a:pPr marL="495325" indent="-495325" defTabSz="609630">
              <a:lnSpc>
                <a:spcPct val="125000"/>
              </a:lnSpc>
              <a:buFontTx/>
              <a:buAutoNum type="arabicPeriod"/>
            </a:pPr>
            <a:r>
              <a:rPr lang="ru-RU" sz="2400" dirty="0">
                <a:solidFill>
                  <a:srgbClr val="000000"/>
                </a:solidFill>
                <a:latin typeface="Nunito Sans" pitchFamily="2" charset="-52"/>
              </a:rPr>
              <a:t>Распознавание лиц</a:t>
            </a:r>
          </a:p>
          <a:p>
            <a:pPr marL="495325" indent="-495325" defTabSz="609630">
              <a:lnSpc>
                <a:spcPct val="125000"/>
              </a:lnSpc>
              <a:buFontTx/>
              <a:buAutoNum type="arabicPeriod"/>
            </a:pPr>
            <a:r>
              <a:rPr lang="ru-RU" sz="2400" dirty="0">
                <a:solidFill>
                  <a:srgbClr val="000000"/>
                </a:solidFill>
                <a:latin typeface="Nunito Sans" pitchFamily="2" charset="-52"/>
              </a:rPr>
              <a:t>Анализ эмоций</a:t>
            </a:r>
          </a:p>
          <a:p>
            <a:pPr marL="495325" indent="-495325" defTabSz="609630">
              <a:lnSpc>
                <a:spcPct val="125000"/>
              </a:lnSpc>
              <a:buFontTx/>
              <a:buAutoNum type="arabicPeriod"/>
            </a:pPr>
            <a:r>
              <a:rPr lang="ru-RU" sz="2400" dirty="0">
                <a:solidFill>
                  <a:srgbClr val="000000"/>
                </a:solidFill>
                <a:latin typeface="Nunito Sans" pitchFamily="2" charset="-52"/>
              </a:rPr>
              <a:t>Интеграция с системами безопасности</a:t>
            </a:r>
            <a:endParaRPr lang="en-US" sz="2400" dirty="0">
              <a:solidFill>
                <a:prstClr val="black"/>
              </a:solidFill>
              <a:latin typeface="Nunito Sans" pitchFamily="2" charset="-52"/>
            </a:endParaRPr>
          </a:p>
        </p:txBody>
      </p:sp>
      <p:pic>
        <p:nvPicPr>
          <p:cNvPr id="16" name="Black_pixel_logoFTC.png" descr="preencoded.png">
            <a:extLst>
              <a:ext uri="{FF2B5EF4-FFF2-40B4-BE49-F238E27FC236}">
                <a16:creationId xmlns:a16="http://schemas.microsoft.com/office/drawing/2014/main" id="{F32C6731-963C-FA32-5866-8873226CB5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17" name="default_name">
            <a:extLst>
              <a:ext uri="{FF2B5EF4-FFF2-40B4-BE49-F238E27FC236}">
                <a16:creationId xmlns:a16="http://schemas.microsoft.com/office/drawing/2014/main" id="{DD72617F-8B1F-0363-AFA7-DC8F747371BF}"/>
              </a:ext>
            </a:extLst>
          </p:cNvPr>
          <p:cNvSpPr/>
          <p:nvPr/>
        </p:nvSpPr>
        <p:spPr>
          <a:xfrm>
            <a:off x="476250" y="476250"/>
            <a:ext cx="7838017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/>
            <a:r>
              <a:rPr lang="ru-RU" sz="3600" dirty="0">
                <a:solidFill>
                  <a:srgbClr val="000000"/>
                </a:solidFill>
                <a:latin typeface="Nunito ExtraBold" pitchFamily="34" charset="0"/>
              </a:rPr>
              <a:t>Перспективы развития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Logo 2" descr="preencoded.png">
            <a:extLst>
              <a:ext uri="{FF2B5EF4-FFF2-40B4-BE49-F238E27FC236}">
                <a16:creationId xmlns:a16="http://schemas.microsoft.com/office/drawing/2014/main" id="{8433A878-48AD-03AA-089E-44201F36AE5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56665" y="1060450"/>
            <a:ext cx="5614699" cy="4953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283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3" name="default_name"/>
          <p:cNvSpPr/>
          <p:nvPr/>
        </p:nvSpPr>
        <p:spPr>
          <a:xfrm>
            <a:off x="476249" y="476250"/>
            <a:ext cx="8860256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Заключение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76249" y="2665577"/>
            <a:ext cx="8395034" cy="2234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marR="0" lvl="0" indent="-457200" algn="l" defTabSz="60963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-52"/>
                <a:ea typeface="+mn-ea"/>
                <a:cs typeface="+mn-cs"/>
              </a:rPr>
              <a:t>Создана интеллектуальная система анализа видео</a:t>
            </a:r>
          </a:p>
          <a:p>
            <a:pPr marL="457200" marR="0" lvl="0" indent="-457200" algn="l" defTabSz="60963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-52"/>
                <a:ea typeface="+mn-ea"/>
                <a:cs typeface="+mn-cs"/>
              </a:rPr>
              <a:t>YOLOv8 успешно интегрирована</a:t>
            </a:r>
          </a:p>
          <a:p>
            <a:pPr marL="457200" marR="0" lvl="0" indent="-457200" algn="l" defTabSz="60963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-52"/>
                <a:ea typeface="+mn-ea"/>
                <a:cs typeface="+mn-cs"/>
              </a:rPr>
              <a:t>Интерфейс и уведомления реализованы</a:t>
            </a:r>
          </a:p>
          <a:p>
            <a:pPr marL="457200" marR="0" lvl="0" indent="-457200" algn="l" defTabSz="60963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-52"/>
                <a:ea typeface="+mn-ea"/>
                <a:cs typeface="+mn-cs"/>
              </a:rPr>
              <a:t>Потенциал - безопасность, образование, коммерция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1622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642</Words>
  <Application>Microsoft Office PowerPoint</Application>
  <PresentationFormat>Широкоэкранный</PresentationFormat>
  <Paragraphs>132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Calibri</vt:lpstr>
      <vt:lpstr>Nunito</vt:lpstr>
      <vt:lpstr>Nunito Bold</vt:lpstr>
      <vt:lpstr>Nunito ExtraBold</vt:lpstr>
      <vt:lpstr>Nunito Sans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Костюк Алексей</dc:creator>
  <cp:lastModifiedBy>Костюк Алексей</cp:lastModifiedBy>
  <cp:revision>25</cp:revision>
  <dcterms:created xsi:type="dcterms:W3CDTF">2025-11-05T23:58:28Z</dcterms:created>
  <dcterms:modified xsi:type="dcterms:W3CDTF">2025-11-06T00:25:59Z</dcterms:modified>
</cp:coreProperties>
</file>